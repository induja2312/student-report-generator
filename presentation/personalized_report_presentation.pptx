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Personalized Report Generation using Templates and Python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Automated Academic Performance Appraisal &amp; PDF Compilation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Academic Context: </a:t>
            </a:r>
            <a:r>
              <a:rPr sz="1700" b="0">
                <a:solidFill>
                  <a:srgbClr val="1E1B4B"/>
                </a:solidFill>
                <a:latin typeface="Calibri"/>
              </a:rPr>
              <a:t>Postgraduate Coursework in Advanced Python Programming.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Core Stack: </a:t>
            </a:r>
            <a:r>
              <a:rPr sz="1700" b="0">
                <a:solidFill>
                  <a:srgbClr val="1E1B4B"/>
                </a:solidFill>
                <a:latin typeface="Calibri"/>
              </a:rPr>
              <a:t>Python 3, Streamlit (UI), Pandas, Matplotlib, ReportLab.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Architecture: </a:t>
            </a:r>
            <a:r>
              <a:rPr sz="1700" b="0">
                <a:solidFill>
                  <a:srgbClr val="1E1B4B"/>
                </a:solidFill>
                <a:latin typeface="Calibri"/>
              </a:rPr>
              <a:t>Decoupled Template Design with In-Memory Byte Streaming.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Zero Cost: </a:t>
            </a:r>
            <a:r>
              <a:rPr sz="1700" b="0">
                <a:solidFill>
                  <a:srgbClr val="1E1B4B"/>
                </a:solidFill>
                <a:latin typeface="Calibri"/>
              </a:rPr>
              <a:t>100% Free &amp; Open-Source — No cloud fees or paid APIs.</a:t>
            </a:r>
          </a:p>
        </p:txBody>
      </p:sp>
      <p:pic>
        <p:nvPicPr>
          <p:cNvPr id="6" name="Picture 5" descr="slide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4512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Problem Statement &amp; Academic Motivation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Challenges in Traditional Student Progress Appraisal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Administrative Burden: </a:t>
            </a:r>
            <a:r>
              <a:rPr sz="1700" b="0">
                <a:solidFill>
                  <a:srgbClr val="1E1B4B"/>
                </a:solidFill>
                <a:latin typeface="Calibri"/>
              </a:rPr>
              <a:t>Manual spreadsheet reporting takes hours per batch.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Calculation Errors: </a:t>
            </a:r>
            <a:r>
              <a:rPr sz="1700" b="0">
                <a:solidFill>
                  <a:srgbClr val="1E1B4B"/>
                </a:solidFill>
                <a:latin typeface="Calibri"/>
              </a:rPr>
              <a:t>Averaging and grading manual mistakes harm accuracy.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Lack of Guidance: </a:t>
            </a:r>
            <a:r>
              <a:rPr sz="1700" b="0">
                <a:solidFill>
                  <a:srgbClr val="1E1B4B"/>
                </a:solidFill>
                <a:latin typeface="Calibri"/>
              </a:rPr>
              <a:t>Standard report cards omit personalized remedial advice.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Absent Visual Analytics: </a:t>
            </a:r>
            <a:r>
              <a:rPr sz="1700" b="0">
                <a:solidFill>
                  <a:srgbClr val="1E1B4B"/>
                </a:solidFill>
                <a:latin typeface="Calibri"/>
              </a:rPr>
              <a:t>Tables fail to visually highlight student strengths.</a:t>
            </a:r>
          </a:p>
        </p:txBody>
      </p:sp>
      <p:pic>
        <p:nvPicPr>
          <p:cNvPr id="6" name="Picture 5" descr="slide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55501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Proposed Solution &amp; System Objectives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Automated, Decoupled Template-Driven Academic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Strict Input Validation: </a:t>
            </a:r>
            <a:r>
              <a:rPr sz="1700" b="0">
                <a:solidFill>
                  <a:srgbClr val="1E1B4B"/>
                </a:solidFill>
                <a:latin typeface="Calibri"/>
              </a:rPr>
              <a:t>Enforces [0, 100] numerical score bounds.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Statistical Engine: </a:t>
            </a:r>
            <a:r>
              <a:rPr sz="1700" b="0">
                <a:solidFill>
                  <a:srgbClr val="1E1B4B"/>
                </a:solidFill>
                <a:latin typeface="Calibri"/>
              </a:rPr>
              <a:t>Automates totals, percentages, letter grades &amp; standing.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Personalized Advice: </a:t>
            </a:r>
            <a:r>
              <a:rPr sz="1700" b="0">
                <a:solidFill>
                  <a:srgbClr val="1E1B4B"/>
                </a:solidFill>
                <a:latin typeface="Calibri"/>
              </a:rPr>
              <a:t>Identifies top &amp; lowest courses with remedial guidance.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Publication Output: </a:t>
            </a:r>
            <a:r>
              <a:rPr sz="1700" b="0">
                <a:solidFill>
                  <a:srgbClr val="1E1B4B"/>
                </a:solidFill>
                <a:latin typeface="Calibri"/>
              </a:rPr>
              <a:t>Compiles vector PDF transcripts ready for print.</a:t>
            </a:r>
          </a:p>
        </p:txBody>
      </p:sp>
      <p:pic>
        <p:nvPicPr>
          <p:cNvPr id="6" name="Picture 5" descr="slide3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6991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System Architecture &amp; Processing Pipeline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4-Stage Modular Decoupled In-Memory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Stage 1 (Ingestion): </a:t>
            </a:r>
            <a:r>
              <a:rPr sz="1700" b="0">
                <a:solidFill>
                  <a:srgbClr val="1E1B4B"/>
                </a:solidFill>
                <a:latin typeface="Calibri"/>
              </a:rPr>
              <a:t>Streamlit UI collects student demographics &amp; marks.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Stage 2 (Processing): </a:t>
            </a:r>
            <a:r>
              <a:rPr sz="1700" b="0">
                <a:solidFill>
                  <a:srgbClr val="1E1B4B"/>
                </a:solidFill>
                <a:latin typeface="Calibri"/>
              </a:rPr>
              <a:t>data_processor.py executes validation &amp; calculations.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Stage 3 (Analytics): </a:t>
            </a:r>
            <a:r>
              <a:rPr sz="1700" b="0">
                <a:solidFill>
                  <a:srgbClr val="1E1B4B"/>
                </a:solidFill>
                <a:latin typeface="Calibri"/>
              </a:rPr>
              <a:t>visualizer.py generates comparative charts via Agg.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Stage 4 (Compilation): </a:t>
            </a:r>
            <a:r>
              <a:rPr sz="1700" b="0">
                <a:solidFill>
                  <a:srgbClr val="1E1B4B"/>
                </a:solidFill>
                <a:latin typeface="Calibri"/>
              </a:rPr>
              <a:t>pdf_generator.py binds data into ReportLab Platypus.</a:t>
            </a:r>
          </a:p>
        </p:txBody>
      </p:sp>
      <p:pic>
        <p:nvPicPr>
          <p:cNvPr id="6" name="Picture 5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4512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Technology Stack &amp; Technical Rationale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100% Free, Lightweight &amp; Open-Source Python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Python 3.11+: </a:t>
            </a:r>
            <a:r>
              <a:rPr sz="1700" b="0">
                <a:solidFill>
                  <a:srgbClr val="1E1B4B"/>
                </a:solidFill>
                <a:latin typeface="Calibri"/>
              </a:rPr>
              <a:t>Core logic with strict types and in-memory io.BytesIO.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Streamlit: </a:t>
            </a:r>
            <a:r>
              <a:rPr sz="1700" b="0">
                <a:solidFill>
                  <a:srgbClr val="1E1B4B"/>
                </a:solidFill>
                <a:latin typeface="Calibri"/>
              </a:rPr>
              <a:t>Interactive web UI with persistent session state.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Pandas: </a:t>
            </a:r>
            <a:r>
              <a:rPr sz="1700" b="0">
                <a:solidFill>
                  <a:srgbClr val="1E1B4B"/>
                </a:solidFill>
                <a:latin typeface="Calibri"/>
              </a:rPr>
              <a:t>Tabular data frame structures for student records.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ReportLab: </a:t>
            </a:r>
            <a:r>
              <a:rPr sz="1700" b="0">
                <a:solidFill>
                  <a:srgbClr val="1E1B4B"/>
                </a:solidFill>
                <a:latin typeface="Calibri"/>
              </a:rPr>
              <a:t>Native vector PDF compilation with Flowables.</a:t>
            </a:r>
          </a:p>
        </p:txBody>
      </p:sp>
      <p:pic>
        <p:nvPicPr>
          <p:cNvPr id="6" name="Picture 5" descr="slide5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6484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Input Validation &amp; Academic Categorization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Clearly Defined University Evaluation Thresholds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Boundary Checks: </a:t>
            </a:r>
            <a:r>
              <a:rPr sz="1700" b="0">
                <a:solidFill>
                  <a:srgbClr val="1E1B4B"/>
                </a:solidFill>
                <a:latin typeface="Calibri"/>
              </a:rPr>
              <a:t>Name/Roll required; marks &amp; attendance strictly in [0, 100].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4 Standing Tiers: </a:t>
            </a:r>
            <a:r>
              <a:rPr sz="1700" b="0">
                <a:solidFill>
                  <a:srgbClr val="1E1B4B"/>
                </a:solidFill>
                <a:latin typeface="Calibri"/>
              </a:rPr>
              <a:t>Excellent (&gt;= 85%), Good (70-84%), Average (50-69%), Needs Imprv (&lt; 50%).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Attendance Norms: </a:t>
            </a:r>
            <a:r>
              <a:rPr sz="1700" b="0">
                <a:solidFill>
                  <a:srgbClr val="1E1B4B"/>
                </a:solidFill>
                <a:latin typeface="Calibri"/>
              </a:rPr>
              <a:t>Standard &gt;= 75% required; &lt; 75% triggers shortage alert.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Remedial Engine: </a:t>
            </a:r>
            <a:r>
              <a:rPr sz="1700" b="0">
                <a:solidFill>
                  <a:srgbClr val="1E1B4B"/>
                </a:solidFill>
                <a:latin typeface="Calibri"/>
              </a:rPr>
              <a:t>Praises strengths and recommends corrective actions.</a:t>
            </a:r>
          </a:p>
        </p:txBody>
      </p:sp>
      <p:pic>
        <p:nvPicPr>
          <p:cNvPr id="6" name="Picture 5" descr="threshold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3692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Dynamic Data Visualization Engine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Comparative Academic Performance Visual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Tier Color Coding: </a:t>
            </a:r>
            <a:r>
              <a:rPr sz="1700" b="0">
                <a:solidFill>
                  <a:srgbClr val="1E1B4B"/>
                </a:solidFill>
                <a:latin typeface="Calibri"/>
              </a:rPr>
              <a:t>Bars styled according to performance category.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Benchmark Lines: </a:t>
            </a:r>
            <a:r>
              <a:rPr sz="1700" b="0">
                <a:solidFill>
                  <a:srgbClr val="1E1B4B"/>
                </a:solidFill>
                <a:latin typeface="Calibri"/>
              </a:rPr>
              <a:t>Visual pass benchmark (50) and student aggregate line.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Score Annotations: </a:t>
            </a:r>
            <a:r>
              <a:rPr sz="1700" b="0">
                <a:solidFill>
                  <a:srgbClr val="1E1B4B"/>
                </a:solidFill>
                <a:latin typeface="Calibri"/>
              </a:rPr>
              <a:t>Numerical marks annotated on top of each bar.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Zero Disk I/O: </a:t>
            </a:r>
            <a:r>
              <a:rPr sz="1700" b="0">
                <a:solidFill>
                  <a:srgbClr val="1E1B4B"/>
                </a:solidFill>
                <a:latin typeface="Calibri"/>
              </a:rPr>
              <a:t>Charts rasterized to in-memory bytes for immediate PDF embed.</a:t>
            </a:r>
          </a:p>
        </p:txBody>
      </p:sp>
      <p:pic>
        <p:nvPicPr>
          <p:cNvPr id="6" name="Picture 5" descr="performan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3103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Template Decoupling &amp; Vector PDF Output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Printable Academic Transcripts via ReportLab Platypus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Template Decoupling: </a:t>
            </a:r>
            <a:r>
              <a:rPr sz="1700" b="0">
                <a:solidFill>
                  <a:srgbClr val="1E1B4B"/>
                </a:solidFill>
                <a:latin typeface="Calibri"/>
              </a:rPr>
              <a:t>Static visual geometry separated from dynamic student data.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Platypus Flowables: </a:t>
            </a:r>
            <a:r>
              <a:rPr sz="1700" b="0">
                <a:solidFill>
                  <a:srgbClr val="1E1B4B"/>
                </a:solidFill>
                <a:latin typeface="Calibri"/>
              </a:rPr>
              <a:t>Automatic page budget management and clean pagination.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Official Elements: </a:t>
            </a:r>
            <a:r>
              <a:rPr sz="1700" b="0">
                <a:solidFill>
                  <a:srgbClr val="1E1B4B"/>
                </a:solidFill>
                <a:latin typeface="Calibri"/>
              </a:rPr>
              <a:t>Header branding, grade tables, embedded chart, signature lines.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Vector Precision: </a:t>
            </a:r>
            <a:r>
              <a:rPr sz="1700" b="0">
                <a:solidFill>
                  <a:srgbClr val="1E1B4B"/>
                </a:solidFill>
                <a:latin typeface="Calibri"/>
              </a:rPr>
              <a:t>High-resolution output suitable for official institutional archives.</a:t>
            </a:r>
          </a:p>
        </p:txBody>
      </p:sp>
      <p:pic>
        <p:nvPicPr>
          <p:cNvPr id="6" name="Picture 5" descr="pdf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6154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Application Interface &amp; Demonstration Workflow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Reactive Dual-Tab Dashboard with Classroom Demo Presets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1-Click MCA Presets: </a:t>
            </a:r>
            <a:r>
              <a:rPr sz="1700" b="0">
                <a:solidFill>
                  <a:srgbClr val="1E1B4B"/>
                </a:solidFill>
                <a:latin typeface="Calibri"/>
              </a:rPr>
              <a:t>Pre-loaded profiles: Induja, Bhuvisha, Kumar, Rajesh, Dhivya (25MX---).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Dual-Tab Layout: </a:t>
            </a:r>
            <a:r>
              <a:rPr sz="1700" b="0">
                <a:solidFill>
                  <a:srgbClr val="1E1B4B"/>
                </a:solidFill>
                <a:latin typeface="Calibri"/>
              </a:rPr>
              <a:t>Tab 1 for data input; Tab 2 for live report inspection.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Live KPI Summary: </a:t>
            </a:r>
            <a:r>
              <a:rPr sz="1700" b="0">
                <a:solidFill>
                  <a:srgbClr val="1E1B4B"/>
                </a:solidFill>
                <a:latin typeface="Calibri"/>
              </a:rPr>
              <a:t>Instant metrics for Total Marks, Aggregate %, Standing.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In-Memory Download: </a:t>
            </a:r>
            <a:r>
              <a:rPr sz="1700" b="0">
                <a:solidFill>
                  <a:srgbClr val="1E1B4B"/>
                </a:solidFill>
                <a:latin typeface="Calibri"/>
              </a:rPr>
              <a:t>1-Click download of vector PDF without file locking.</a:t>
            </a:r>
          </a:p>
        </p:txBody>
      </p:sp>
      <p:pic>
        <p:nvPicPr>
          <p:cNvPr id="6" name="Picture 5" descr="slide9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4512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3B0764"/>
                </a:solidFill>
                <a:latin typeface="Calibri"/>
              </a:defRPr>
            </a:pPr>
            <a:r>
              <a:t>Conclusion, Future Scope &amp; Viva Discussion</a:t>
            </a:r>
          </a:p>
          <a:p>
            <a:pPr>
              <a:spcBef>
                <a:spcPts val="400"/>
              </a:spcBef>
              <a:defRPr sz="2200" b="1">
                <a:solidFill>
                  <a:srgbClr val="581C87"/>
                </a:solidFill>
                <a:latin typeface="Calibri"/>
              </a:defRPr>
            </a:pPr>
            <a:r>
              <a:t>Project Accomplishments &amp; Enterprise Scalability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36576"/>
          </a:xfrm>
          <a:prstGeom prst="rect">
            <a:avLst/>
          </a:prstGeom>
          <a:solidFill>
            <a:srgbClr val="581C87"/>
          </a:solidFill>
          <a:ln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100% Automated: </a:t>
            </a:r>
            <a:r>
              <a:rPr sz="1700" b="0">
                <a:solidFill>
                  <a:srgbClr val="1E1B4B"/>
                </a:solidFill>
                <a:latin typeface="Calibri"/>
              </a:rPr>
              <a:t>Eliminates administrative overhead and arithmetic errors.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High Performance: </a:t>
            </a:r>
            <a:r>
              <a:rPr sz="1700" b="0">
                <a:solidFill>
                  <a:srgbClr val="1E1B4B"/>
                </a:solidFill>
                <a:latin typeface="Calibri"/>
              </a:rPr>
              <a:t>Under 0.8s execution time via in-memory streaming.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Scalability Roadmap: </a:t>
            </a:r>
            <a:r>
              <a:rPr sz="1700" b="0">
                <a:solidFill>
                  <a:srgbClr val="1E1B4B"/>
                </a:solidFill>
                <a:latin typeface="Calibri"/>
              </a:rPr>
              <a:t>Batch CSV ingestion for 500+ students &amp; email dispatch.</a:t>
            </a:r>
          </a:p>
          <a:p>
            <a:pPr>
              <a:spcBef>
                <a:spcPts val="400"/>
              </a:spcBef>
              <a:spcAft>
                <a:spcPts val="1400"/>
              </a:spcAft>
            </a:pPr>
            <a:r>
              <a:rPr sz="1900" b="1">
                <a:solidFill>
                  <a:srgbClr val="3B0764"/>
                </a:solidFill>
                <a:latin typeface="Calibri"/>
              </a:rPr>
              <a:t>• Viva Evaluation: </a:t>
            </a:r>
            <a:r>
              <a:rPr sz="1700" b="0">
                <a:solidFill>
                  <a:srgbClr val="1E1B4B"/>
                </a:solidFill>
                <a:latin typeface="Calibri"/>
              </a:rPr>
              <a:t>Floor is open for Questions, Code Walkthrough &amp; Demo.</a:t>
            </a:r>
          </a:p>
        </p:txBody>
      </p:sp>
      <p:pic>
        <p:nvPicPr>
          <p:cNvPr id="6" name="Picture 5" descr="slide10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34512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D8B4FE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B468C"/>
                </a:solidFill>
                <a:latin typeface="Calibri"/>
              </a:defRPr>
            </a:pPr>
            <a:r>
              <a:t>Advanced Python Programming  |  Personalized Report Generation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