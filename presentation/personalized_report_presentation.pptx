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91440"/>
          </a:xfrm>
          <a:prstGeom prst="rect">
            <a:avLst/>
          </a:prstGeom>
          <a:solidFill>
            <a:srgbClr val="3B0764"/>
          </a:solidFill>
          <a:ln>
            <a:solidFill>
              <a:srgbClr val="3B07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500" b="1">
                <a:solidFill>
                  <a:srgbClr val="3B0764"/>
                </a:solidFill>
                <a:latin typeface="Calibri"/>
              </a:defRPr>
            </a:pPr>
            <a:r>
              <a:t>Personalized Report Generation using Templates and Python</a:t>
            </a:r>
          </a:p>
          <a:p>
            <a:pPr>
              <a:spcBef>
                <a:spcPts val="800"/>
              </a:spcBef>
              <a:defRPr sz="2500" b="1">
                <a:solidFill>
                  <a:srgbClr val="581C87"/>
                </a:solidFill>
                <a:latin typeface="Calibri"/>
              </a:defRPr>
            </a:pPr>
            <a:r>
              <a:t>Automated Academic Performance Appraisal &amp; PDF Compilation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926080"/>
            <a:ext cx="10698480" cy="301752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108960"/>
            <a:ext cx="996696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Academic Context: </a:t>
            </a:r>
            <a:r>
              <a:rPr sz="2000" b="0">
                <a:solidFill>
                  <a:srgbClr val="1E1B4B"/>
                </a:solidFill>
                <a:latin typeface="Calibri"/>
              </a:rPr>
              <a:t>Postgraduate Seminar Coursework in Advanced Python Programming.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Core Technology: </a:t>
            </a:r>
            <a:r>
              <a:rPr sz="2000" b="0">
                <a:solidFill>
                  <a:srgbClr val="1E1B4B"/>
                </a:solidFill>
                <a:latin typeface="Calibri"/>
              </a:rPr>
              <a:t>Python 3, Streamlit (Web UI), Pandas (Data), Matplotlib (Charts), ReportLab (PDFs).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Key Philosophy: </a:t>
            </a:r>
            <a:r>
              <a:rPr sz="2000" b="0">
                <a:solidFill>
                  <a:srgbClr val="1E1B4B"/>
                </a:solidFill>
                <a:latin typeface="Calibri"/>
              </a:rPr>
              <a:t>100% Free &amp; Open-Source Stack — Zero external APIs, databases, or cloud costs.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Architecture: </a:t>
            </a:r>
            <a:r>
              <a:rPr sz="2000" b="0">
                <a:solidFill>
                  <a:srgbClr val="1E1B4B"/>
                </a:solidFill>
                <a:latin typeface="Calibri"/>
              </a:rPr>
              <a:t>Template Decoupled Design with In-Memory Byte Buffer Streaming (io.BytesIO).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  <a:latin typeface="Calibri"/>
              </a:defRPr>
            </a:pPr>
            <a:r>
              <a:t>Advanced Python Programming  |  Personalized Report Generation  |  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500" b="1">
                <a:solidFill>
                  <a:srgbClr val="3B0764"/>
                </a:solidFill>
                <a:latin typeface="Calibri"/>
              </a:defRPr>
            </a:pPr>
            <a:r>
              <a:t>Problem Statement &amp; Academic Motivation</a:t>
            </a:r>
          </a:p>
          <a:p>
            <a:pPr>
              <a:defRPr sz="2500" b="1">
                <a:solidFill>
                  <a:srgbClr val="581C87"/>
                </a:solidFill>
                <a:latin typeface="Calibri"/>
              </a:defRPr>
            </a:pPr>
            <a:r>
              <a:t>Challenges in Traditional Student Progress Reporting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High Administrative Overhead: </a:t>
            </a:r>
            <a:r>
              <a:rPr sz="2000" b="0">
                <a:solidFill>
                  <a:srgbClr val="1E1B4B"/>
                </a:solidFill>
                <a:latin typeface="Calibri"/>
              </a:rPr>
              <a:t>Manual report preparation across spreadsheets is slow and labor-intensive.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Arithmetic Calculation Errors: </a:t>
            </a:r>
            <a:r>
              <a:rPr sz="2000" b="0">
                <a:solidFill>
                  <a:srgbClr val="1E1B4B"/>
                </a:solidFill>
                <a:latin typeface="Calibri"/>
              </a:rPr>
              <a:t>Manual averaging and grading often produce discrepancies in student grade cards.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Lack of Personalized Guidance: </a:t>
            </a:r>
            <a:r>
              <a:rPr sz="2000" b="0">
                <a:solidFill>
                  <a:srgbClr val="1E1B4B"/>
                </a:solidFill>
                <a:latin typeface="Calibri"/>
              </a:rPr>
              <a:t>Standard reports only show scores, lacking individualized academic advice.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Absent Data Visualizations: </a:t>
            </a:r>
            <a:r>
              <a:rPr sz="2000" b="0">
                <a:solidFill>
                  <a:srgbClr val="1E1B4B"/>
                </a:solidFill>
                <a:latin typeface="Calibri"/>
              </a:rPr>
              <a:t>Tabular marks alone fail to visually communicate strengths and growth areas.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Need for Consistent Templating: </a:t>
            </a:r>
            <a:r>
              <a:rPr sz="2000" b="0">
                <a:solidFill>
                  <a:srgbClr val="1E1B4B"/>
                </a:solidFill>
                <a:latin typeface="Calibri"/>
              </a:rPr>
              <a:t>Institutions require unified, professional branding across all student transcripts.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  <a:latin typeface="Calibri"/>
              </a:defRPr>
            </a:pPr>
            <a:r>
              <a:t>Advanced Python Programming  |  Personalized Report Generation  |  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500" b="1">
                <a:solidFill>
                  <a:srgbClr val="3B0764"/>
                </a:solidFill>
                <a:latin typeface="Calibri"/>
              </a:defRPr>
            </a:pPr>
            <a:r>
              <a:t>Proposed Solution &amp; System Objectives</a:t>
            </a:r>
          </a:p>
          <a:p>
            <a:pPr>
              <a:defRPr sz="2500" b="1">
                <a:solidFill>
                  <a:srgbClr val="581C87"/>
                </a:solidFill>
                <a:latin typeface="Calibri"/>
              </a:defRPr>
            </a:pPr>
            <a:r>
              <a:t>Automated, Decoupled Template-Driven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Strict Input Validation: </a:t>
            </a:r>
            <a:r>
              <a:rPr sz="2000" b="0">
                <a:solidFill>
                  <a:srgbClr val="1E1B4B"/>
                </a:solidFill>
                <a:latin typeface="Calibri"/>
              </a:rPr>
              <a:t>Real-time boundary checks (0–100 limits, required registration fields).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Automated Statistical Engine: </a:t>
            </a:r>
            <a:r>
              <a:rPr sz="2000" b="0">
                <a:solidFill>
                  <a:srgbClr val="1E1B4B"/>
                </a:solidFill>
                <a:latin typeface="Calibri"/>
              </a:rPr>
              <a:t>Instant computation of totals, averages, percentages, and standing categories.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Rule-Based Appraisal Engine: </a:t>
            </a:r>
            <a:r>
              <a:rPr sz="2000" b="0">
                <a:solidFill>
                  <a:srgbClr val="1E1B4B"/>
                </a:solidFill>
                <a:latin typeface="Calibri"/>
              </a:rPr>
              <a:t>Generates intelligent feedback identifying top subjects and attendance warnings.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Publication-Ready Visuals: </a:t>
            </a:r>
            <a:r>
              <a:rPr sz="2000" b="0">
                <a:solidFill>
                  <a:srgbClr val="1E1B4B"/>
                </a:solidFill>
                <a:latin typeface="Calibri"/>
              </a:rPr>
              <a:t>Dynamic comparative bar charts highlighting benchmarks and student averages.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Vector PDF Generation: </a:t>
            </a:r>
            <a:r>
              <a:rPr sz="2000" b="0">
                <a:solidFill>
                  <a:srgbClr val="1E1B4B"/>
                </a:solidFill>
                <a:latin typeface="Calibri"/>
              </a:rPr>
              <a:t>ReportLab Platypus compiles print-ready academic documents on demand.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  <a:latin typeface="Calibri"/>
              </a:defRPr>
            </a:pPr>
            <a:r>
              <a:t>Advanced Python Programming  |  Personalized Report Generation  |  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500" b="1">
                <a:solidFill>
                  <a:srgbClr val="3B0764"/>
                </a:solidFill>
                <a:latin typeface="Calibri"/>
              </a:defRPr>
            </a:pPr>
            <a:r>
              <a:t>System Architecture &amp; Processing Pipeline</a:t>
            </a:r>
          </a:p>
          <a:p>
            <a:pPr>
              <a:defRPr sz="2500" b="1">
                <a:solidFill>
                  <a:srgbClr val="581C87"/>
                </a:solidFill>
                <a:latin typeface="Calibri"/>
              </a:defRPr>
            </a:pPr>
            <a:r>
              <a:t>4-Stage Modular Decoupled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5303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Stage 1 (Ingestion): </a:t>
            </a:r>
            <a:r>
              <a:rPr sz="2000" b="0">
                <a:solidFill>
                  <a:srgbClr val="1E1B4B"/>
                </a:solidFill>
                <a:latin typeface="Calibri"/>
              </a:rPr>
              <a:t>Streamlit UI captures student demographics &amp; 5 subject marks.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Stage 2 (Processing): </a:t>
            </a:r>
            <a:r>
              <a:rPr sz="2000" b="0">
                <a:solidFill>
                  <a:srgbClr val="1E1B4B"/>
                </a:solidFill>
                <a:latin typeface="Calibri"/>
              </a:rPr>
              <a:t>data_processor.py executes validation &amp; statistical aggregations.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Stage 3 (Analytics): </a:t>
            </a:r>
            <a:r>
              <a:rPr sz="2000" b="0">
                <a:solidFill>
                  <a:srgbClr val="1E1B4B"/>
                </a:solidFill>
                <a:latin typeface="Calibri"/>
              </a:rPr>
              <a:t>visualizer.py produces comparative charts via Matplotlib Agg.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Stage 4 (Compilation): </a:t>
            </a:r>
            <a:r>
              <a:rPr sz="2000" b="0">
                <a:solidFill>
                  <a:srgbClr val="1E1B4B"/>
                </a:solidFill>
                <a:latin typeface="Calibri"/>
              </a:rPr>
              <a:t>pdf_generator.py binds data into ReportLab Platypus PDF.</a:t>
            </a:r>
          </a:p>
        </p:txBody>
      </p:sp>
      <p:pic>
        <p:nvPicPr>
          <p:cNvPr id="6" name="Picture 5" descr="pipelin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212080" cy="2441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  <a:latin typeface="Calibri"/>
              </a:defRPr>
            </a:pPr>
            <a:r>
              <a:t>Advanced Python Programming  |  Personalized Report Generation  |  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500" b="1">
                <a:solidFill>
                  <a:srgbClr val="3B0764"/>
                </a:solidFill>
                <a:latin typeface="Calibri"/>
              </a:defRPr>
            </a:pPr>
            <a:r>
              <a:t>Technology Stack &amp; Technical Rationale</a:t>
            </a:r>
          </a:p>
          <a:p>
            <a:pPr>
              <a:defRPr sz="2500" b="1">
                <a:solidFill>
                  <a:srgbClr val="581C87"/>
                </a:solidFill>
                <a:latin typeface="Calibri"/>
              </a:defRPr>
            </a:pPr>
            <a:r>
              <a:t>100% Free, Lightweight &amp; Open-Source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Python 3: </a:t>
            </a:r>
            <a:r>
              <a:rPr sz="2000" b="0">
                <a:solidFill>
                  <a:srgbClr val="1E1B4B"/>
                </a:solidFill>
                <a:latin typeface="Calibri"/>
              </a:rPr>
              <a:t>Core logic, strict type hinting, and memory-efficient byte streaming (io.BytesIO).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Streamlit: </a:t>
            </a:r>
            <a:r>
              <a:rPr sz="2000" b="0">
                <a:solidFill>
                  <a:srgbClr val="1E1B4B"/>
                </a:solidFill>
                <a:latin typeface="Calibri"/>
              </a:rPr>
              <a:t>Reactive web interface with persistent session state management and custom CSS.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Pandas: </a:t>
            </a:r>
            <a:r>
              <a:rPr sz="2000" b="0">
                <a:solidFill>
                  <a:srgbClr val="1E1B4B"/>
                </a:solidFill>
                <a:latin typeface="Calibri"/>
              </a:rPr>
              <a:t>Tabular data frame structures for structured academic record manipulation.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Matplotlib (Agg): </a:t>
            </a:r>
            <a:r>
              <a:rPr sz="2000" b="0">
                <a:solidFill>
                  <a:srgbClr val="1E1B4B"/>
                </a:solidFill>
                <a:latin typeface="Calibri"/>
              </a:rPr>
              <a:t>Headless, thread-safe charting that prevents GUI backend threading crashes.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ReportLab Platypus: </a:t>
            </a:r>
            <a:r>
              <a:rPr sz="2000" b="0">
                <a:solidFill>
                  <a:srgbClr val="1E1B4B"/>
                </a:solidFill>
                <a:latin typeface="Calibri"/>
              </a:rPr>
              <a:t>Native vector PDF compilation with tables and flowables (no external OS tools).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  <a:latin typeface="Calibri"/>
              </a:defRPr>
            </a:pPr>
            <a:r>
              <a:t>Advanced Python Programming  |  Personalized Report Generation  |  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500" b="1">
                <a:solidFill>
                  <a:srgbClr val="3B0764"/>
                </a:solidFill>
                <a:latin typeface="Calibri"/>
              </a:defRPr>
            </a:pPr>
            <a:r>
              <a:t>Input Validation &amp; Academic Categorization</a:t>
            </a:r>
          </a:p>
          <a:p>
            <a:pPr>
              <a:defRPr sz="2500" b="1">
                <a:solidFill>
                  <a:srgbClr val="581C87"/>
                </a:solidFill>
                <a:latin typeface="Calibri"/>
              </a:defRPr>
            </a:pPr>
            <a:r>
              <a:t>Clearly Defined Academic Thresholds &amp; Constraints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5303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Boundary Enforcement: </a:t>
            </a:r>
            <a:r>
              <a:rPr sz="2000" b="0">
                <a:solidFill>
                  <a:srgbClr val="1E1B4B"/>
                </a:solidFill>
                <a:latin typeface="Calibri"/>
              </a:rPr>
              <a:t>Name &amp; Roll required; marks &amp; attendance strictly in [0, 100].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Four Academic Tiers: </a:t>
            </a:r>
            <a:r>
              <a:rPr sz="2000" b="0">
                <a:solidFill>
                  <a:srgbClr val="1E1B4B"/>
                </a:solidFill>
                <a:latin typeface="Calibri"/>
              </a:rPr>
              <a:t>Excellent (&gt;= 85%), Good (70-84%), Average (50-69%), Needs Imprv (&lt; 50%).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Attendance Compliance: </a:t>
            </a:r>
            <a:r>
              <a:rPr sz="2000" b="0">
                <a:solidFill>
                  <a:srgbClr val="1E1B4B"/>
                </a:solidFill>
                <a:latin typeface="Calibri"/>
              </a:rPr>
              <a:t>Standard &gt;= 75% required; &lt; 75% triggers an immediate Shortage Alert.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Multi-Factor Feedback: </a:t>
            </a:r>
            <a:r>
              <a:rPr sz="2000" b="0">
                <a:solidFill>
                  <a:srgbClr val="1E1B4B"/>
                </a:solidFill>
                <a:latin typeface="Calibri"/>
              </a:rPr>
              <a:t>Praises highest subject while highlighting targeted areas for growth.</a:t>
            </a:r>
          </a:p>
        </p:txBody>
      </p:sp>
      <p:pic>
        <p:nvPicPr>
          <p:cNvPr id="6" name="Picture 5" descr="threshold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212080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  <a:latin typeface="Calibri"/>
              </a:defRPr>
            </a:pPr>
            <a:r>
              <a:t>Advanced Python Programming  |  Personalized Report Generation  |  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500" b="1">
                <a:solidFill>
                  <a:srgbClr val="3B0764"/>
                </a:solidFill>
                <a:latin typeface="Calibri"/>
              </a:defRPr>
            </a:pPr>
            <a:r>
              <a:t>Dynamic Data Visualization Engine</a:t>
            </a:r>
          </a:p>
          <a:p>
            <a:pPr>
              <a:defRPr sz="2500" b="1">
                <a:solidFill>
                  <a:srgbClr val="581C87"/>
                </a:solidFill>
                <a:latin typeface="Calibri"/>
              </a:defRPr>
            </a:pPr>
            <a:r>
              <a:t>In-Memory Academic Performance Analytics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5303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Dynamic Bar Palette: </a:t>
            </a:r>
            <a:r>
              <a:rPr sz="2000" b="0">
                <a:solidFill>
                  <a:srgbClr val="1E1B4B"/>
                </a:solidFill>
                <a:latin typeface="Calibri"/>
              </a:rPr>
              <a:t>Scores color-coded based on performance tiers for instant clarity.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Benchmark Reference Lines: </a:t>
            </a:r>
            <a:r>
              <a:rPr sz="2000" b="0">
                <a:solidFill>
                  <a:srgbClr val="1E1B4B"/>
                </a:solidFill>
                <a:latin typeface="Calibri"/>
              </a:rPr>
              <a:t>Passing mark threshold (50) and dynamic student average line.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Value Annotations: </a:t>
            </a:r>
            <a:r>
              <a:rPr sz="2000" b="0">
                <a:solidFill>
                  <a:srgbClr val="1E1B4B"/>
                </a:solidFill>
                <a:latin typeface="Calibri"/>
              </a:rPr>
              <a:t>Numerical scores explicitly annotated above each bar for readability.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Zero-Disk Byte Buffering: </a:t>
            </a:r>
            <a:r>
              <a:rPr sz="2000" b="0">
                <a:solidFill>
                  <a:srgbClr val="1E1B4B"/>
                </a:solidFill>
                <a:latin typeface="Calibri"/>
              </a:rPr>
              <a:t>Chart rasterized directly to io.BytesIO for web &amp; PDF embedding.</a:t>
            </a:r>
          </a:p>
        </p:txBody>
      </p:sp>
      <p:pic>
        <p:nvPicPr>
          <p:cNvPr id="6" name="Picture 5" descr="performanc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212080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  <a:latin typeface="Calibri"/>
              </a:defRPr>
            </a:pPr>
            <a:r>
              <a:t>Advanced Python Programming  |  Personalized Report Generation  |  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500" b="1">
                <a:solidFill>
                  <a:srgbClr val="3B0764"/>
                </a:solidFill>
                <a:latin typeface="Calibri"/>
              </a:defRPr>
            </a:pPr>
            <a:r>
              <a:t>Template Decoupling &amp; Vector PDF Output</a:t>
            </a:r>
          </a:p>
          <a:p>
            <a:pPr>
              <a:defRPr sz="2500" b="1">
                <a:solidFill>
                  <a:srgbClr val="581C87"/>
                </a:solidFill>
                <a:latin typeface="Calibri"/>
              </a:defRPr>
            </a:pPr>
            <a:r>
              <a:t>Reusable Document Layout via ReportLab Platypus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53035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Decoupled Architecture: </a:t>
            </a:r>
            <a:r>
              <a:rPr sz="2000" b="0">
                <a:solidFill>
                  <a:srgbClr val="1E1B4B"/>
                </a:solidFill>
                <a:latin typeface="Calibri"/>
              </a:rPr>
              <a:t>Layout geometry remains static while dynamic student data is injected.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Platypus Flowables: </a:t>
            </a:r>
            <a:r>
              <a:rPr sz="2000" b="0">
                <a:solidFill>
                  <a:srgbClr val="1E1B4B"/>
                </a:solidFill>
                <a:latin typeface="Calibri"/>
              </a:rPr>
              <a:t>Uses Paragraphs, Tables, and KeepTogether to prevent page overflows.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Institutional Elements: </a:t>
            </a:r>
            <a:r>
              <a:rPr sz="2000" b="0">
                <a:solidFill>
                  <a:srgbClr val="1E1B4B"/>
                </a:solidFill>
                <a:latin typeface="Calibri"/>
              </a:rPr>
              <a:t>Header branding, grade tables, embedded charts, and signature blocks.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Scalable Output: </a:t>
            </a:r>
            <a:r>
              <a:rPr sz="2000" b="0">
                <a:solidFill>
                  <a:srgbClr val="1E1B4B"/>
                </a:solidFill>
                <a:latin typeface="Calibri"/>
              </a:rPr>
              <a:t>Clean vector PDF ready for immediate printing or official distribution.</a:t>
            </a:r>
          </a:p>
        </p:txBody>
      </p:sp>
      <p:pic>
        <p:nvPicPr>
          <p:cNvPr id="6" name="Picture 5" descr="pdf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212080" cy="2746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  <a:latin typeface="Calibri"/>
              </a:defRPr>
            </a:pPr>
            <a:r>
              <a:t>Advanced Python Programming  |  Personalized Report Generation  |  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500" b="1">
                <a:solidFill>
                  <a:srgbClr val="3B0764"/>
                </a:solidFill>
                <a:latin typeface="Calibri"/>
              </a:defRPr>
            </a:pPr>
            <a:r>
              <a:t>Application Interface &amp; Demonstration Workflow</a:t>
            </a:r>
          </a:p>
          <a:p>
            <a:pPr>
              <a:defRPr sz="2500" b="1">
                <a:solidFill>
                  <a:srgbClr val="581C87"/>
                </a:solidFill>
                <a:latin typeface="Calibri"/>
              </a:defRPr>
            </a:pPr>
            <a:r>
              <a:t>Streamlit Interactive Dashboard Experience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Quick Demo Presets: </a:t>
            </a:r>
            <a:r>
              <a:rPr sz="2000" b="0">
                <a:solidFill>
                  <a:srgbClr val="1E1B4B"/>
                </a:solidFill>
                <a:latin typeface="Calibri"/>
              </a:rPr>
              <a:t>Sidebar allows 1-click loading of student profiles (High Achiever, Needs Review).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Dual-Tab Interface: </a:t>
            </a:r>
            <a:r>
              <a:rPr sz="2000" b="0">
                <a:solidFill>
                  <a:srgbClr val="1E1B4B"/>
                </a:solidFill>
                <a:latin typeface="Calibri"/>
              </a:rPr>
              <a:t>Tab 1 for intuitive record entry; Tab 2 for live report inspection &amp; download.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Real-Time KPI Cards: </a:t>
            </a:r>
            <a:r>
              <a:rPr sz="2000" b="0">
                <a:solidFill>
                  <a:srgbClr val="1E1B4B"/>
                </a:solidFill>
                <a:latin typeface="Calibri"/>
              </a:rPr>
              <a:t>Displays Total Marks, Aggregate %, Standing Badge, and Attendance.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One-Click PDF Download: </a:t>
            </a:r>
            <a:r>
              <a:rPr sz="2000" b="0">
                <a:solidFill>
                  <a:srgbClr val="1E1B4B"/>
                </a:solidFill>
                <a:latin typeface="Calibri"/>
              </a:rPr>
              <a:t>Streamlit download button serves vector-quality report on demand.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  <a:latin typeface="Calibri"/>
              </a:defRPr>
            </a:pPr>
            <a:r>
              <a:t>Advanced Python Programming  |  Personalized Report Generation  |  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500" b="1">
                <a:solidFill>
                  <a:srgbClr val="3B0764"/>
                </a:solidFill>
                <a:latin typeface="Calibri"/>
              </a:defRPr>
            </a:pPr>
            <a:r>
              <a:t>Conclusion, Future Scope &amp; Viva Discussion</a:t>
            </a:r>
          </a:p>
          <a:p>
            <a:pPr>
              <a:defRPr sz="2500" b="1">
                <a:solidFill>
                  <a:srgbClr val="581C87"/>
                </a:solidFill>
                <a:latin typeface="Calibri"/>
              </a:defRPr>
            </a:pPr>
            <a:r>
              <a:t>Project Summary &amp; Advanced Scalability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698480" cy="36576"/>
          </a:xfrm>
          <a:prstGeom prst="rect">
            <a:avLst/>
          </a:prstGeom>
          <a:solidFill>
            <a:srgbClr val="581C87"/>
          </a:solidFill>
          <a:ln>
            <a:solidFill>
              <a:srgbClr val="581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D8B4FE"/>
          </a:solidFill>
          <a:ln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Key Accomplishments: </a:t>
            </a:r>
            <a:r>
              <a:rPr sz="2000" b="0">
                <a:solidFill>
                  <a:srgbClr val="1E1B4B"/>
                </a:solidFill>
                <a:latin typeface="Calibri"/>
              </a:rPr>
              <a:t>Delivered an automated, zero-cost, template-driven report generator.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High Memory Efficiency: </a:t>
            </a:r>
            <a:r>
              <a:rPr sz="2000" b="0">
                <a:solidFill>
                  <a:srgbClr val="1E1B4B"/>
                </a:solidFill>
                <a:latin typeface="Calibri"/>
              </a:rPr>
              <a:t>In-memory streaming (io.BytesIO) prevents disk clutter and file locking.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Scalability Roadmap: </a:t>
            </a:r>
            <a:r>
              <a:rPr sz="2000" b="0">
                <a:solidFill>
                  <a:srgbClr val="1E1B4B"/>
                </a:solidFill>
                <a:latin typeface="Calibri"/>
              </a:rPr>
              <a:t>Can easily extend to batch CSV processing for 500+ students and email dispatch.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Advanced Extensions: </a:t>
            </a:r>
            <a:r>
              <a:rPr sz="2000" b="0">
                <a:solidFill>
                  <a:srgbClr val="1E1B4B"/>
                </a:solidFill>
                <a:latin typeface="Calibri"/>
              </a:rPr>
              <a:t>Longitudinal trend tracking across semesters &amp; institutional LMS integration.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2000" b="1">
                <a:solidFill>
                  <a:srgbClr val="3B0764"/>
                </a:solidFill>
                <a:latin typeface="Calibri"/>
              </a:rPr>
              <a:t>• Thank You: </a:t>
            </a:r>
            <a:r>
              <a:rPr sz="2000" b="0">
                <a:solidFill>
                  <a:srgbClr val="1E1B4B"/>
                </a:solidFill>
                <a:latin typeface="Calibri"/>
              </a:rPr>
              <a:t>Floor is open for Questions, Code Walkthrough, and Viva Evaluation.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  <a:latin typeface="Calibri"/>
              </a:defRPr>
            </a:pPr>
            <a:r>
              <a:t>Advanced Python Programming  |  Personalized Report Generation  |  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