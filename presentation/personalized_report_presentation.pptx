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400" b="1">
                <a:solidFill>
                  <a:srgbClr val="3B0764"/>
                </a:solidFill>
                <a:latin typeface="Calibri"/>
              </a:defRPr>
            </a:pPr>
            <a:r>
              <a:t>Personalized Report Generation using Templates and Python</a:t>
            </a:r>
          </a:p>
          <a:p>
            <a:pPr>
              <a:spcBef>
                <a:spcPts val="400"/>
              </a:spcBef>
              <a:defRPr sz="2200" b="1">
                <a:solidFill>
                  <a:srgbClr val="581C87"/>
                </a:solidFill>
                <a:latin typeface="Calibri"/>
              </a:defRPr>
            </a:pPr>
            <a:r>
              <a:t>Automated Academic Performance Appraisal &amp; PDF Compilation 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728655" cy="36576"/>
          </a:xfrm>
          <a:prstGeom prst="rect">
            <a:avLst/>
          </a:prstGeom>
          <a:solidFill>
            <a:srgbClr val="581C87"/>
          </a:solidFill>
          <a:ln>
            <a:solidFill>
              <a:srgbClr val="581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212080" cy="4480560"/>
          </a:xfrm>
          <a:prstGeom prst="roundRect">
            <a:avLst/>
          </a:prstGeom>
          <a:solidFill>
            <a:srgbClr val="F5F0FF"/>
          </a:solidFill>
          <a:ln w="1905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83080"/>
            <a:ext cx="475488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1900" b="1">
                <a:solidFill>
                  <a:srgbClr val="3B0764"/>
                </a:solidFill>
                <a:latin typeface="Calibri"/>
              </a:rPr>
              <a:t>• Academic Context: </a:t>
            </a:r>
            <a:r>
              <a:rPr sz="1700" b="0">
                <a:solidFill>
                  <a:srgbClr val="1E1B4B"/>
                </a:solidFill>
                <a:latin typeface="Calibri"/>
              </a:rPr>
              <a:t>Postgraduate Coursework in Advanced Python Programming.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1900" b="1">
                <a:solidFill>
                  <a:srgbClr val="3B0764"/>
                </a:solidFill>
                <a:latin typeface="Calibri"/>
              </a:rPr>
              <a:t>• Core Stack: </a:t>
            </a:r>
            <a:r>
              <a:rPr sz="1700" b="0">
                <a:solidFill>
                  <a:srgbClr val="1E1B4B"/>
                </a:solidFill>
                <a:latin typeface="Calibri"/>
              </a:rPr>
              <a:t>Python 3, Streamlit (UI), Pandas, Matplotlib, ReportLab.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1900" b="1">
                <a:solidFill>
                  <a:srgbClr val="3B0764"/>
                </a:solidFill>
                <a:latin typeface="Calibri"/>
              </a:rPr>
              <a:t>• Architecture: </a:t>
            </a:r>
            <a:r>
              <a:rPr sz="1700" b="0">
                <a:solidFill>
                  <a:srgbClr val="1E1B4B"/>
                </a:solidFill>
                <a:latin typeface="Calibri"/>
              </a:rPr>
              <a:t>Decoupled Template Design with In-Memory Byte Streaming.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1900" b="1">
                <a:solidFill>
                  <a:srgbClr val="3B0764"/>
                </a:solidFill>
                <a:latin typeface="Calibri"/>
              </a:rPr>
              <a:t>• Zero Cost: </a:t>
            </a:r>
            <a:r>
              <a:rPr sz="1700" b="0">
                <a:solidFill>
                  <a:srgbClr val="1E1B4B"/>
                </a:solidFill>
                <a:latin typeface="Calibri"/>
              </a:rPr>
              <a:t>100% Free &amp; Open-Source — No cloud fees or paid APIs.</a:t>
            </a:r>
          </a:p>
        </p:txBody>
      </p:sp>
      <p:pic>
        <p:nvPicPr>
          <p:cNvPr id="6" name="Picture 5" descr="slide1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0200"/>
            <a:ext cx="5212080" cy="345124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D8B4FE"/>
          </a:solidFill>
          <a:ln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2764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B468C"/>
                </a:solidFill>
                <a:latin typeface="Calibri"/>
              </a:defRPr>
            </a:pPr>
            <a:r>
              <a:t>Advanced Python Programming  |  Personalized Report Generation  |  Slide 1 of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400" b="1">
                <a:solidFill>
                  <a:srgbClr val="3B0764"/>
                </a:solidFill>
                <a:latin typeface="Calibri"/>
              </a:defRPr>
            </a:pPr>
            <a:r>
              <a:t>Problem Statement &amp; Academic Motivation</a:t>
            </a:r>
          </a:p>
          <a:p>
            <a:pPr>
              <a:spcBef>
                <a:spcPts val="400"/>
              </a:spcBef>
              <a:defRPr sz="2200" b="1">
                <a:solidFill>
                  <a:srgbClr val="581C87"/>
                </a:solidFill>
                <a:latin typeface="Calibri"/>
              </a:defRPr>
            </a:pPr>
            <a:r>
              <a:t>Challenges in Traditional Student Progress Appraisal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728655" cy="36576"/>
          </a:xfrm>
          <a:prstGeom prst="rect">
            <a:avLst/>
          </a:prstGeom>
          <a:solidFill>
            <a:srgbClr val="581C87"/>
          </a:solidFill>
          <a:ln>
            <a:solidFill>
              <a:srgbClr val="581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212080" cy="4480560"/>
          </a:xfrm>
          <a:prstGeom prst="roundRect">
            <a:avLst/>
          </a:prstGeom>
          <a:solidFill>
            <a:srgbClr val="F5F0FF"/>
          </a:solidFill>
          <a:ln w="1905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83080"/>
            <a:ext cx="475488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1900" b="1">
                <a:solidFill>
                  <a:srgbClr val="3B0764"/>
                </a:solidFill>
                <a:latin typeface="Calibri"/>
              </a:rPr>
              <a:t>• Administrative Burden: </a:t>
            </a:r>
            <a:r>
              <a:rPr sz="1700" b="0">
                <a:solidFill>
                  <a:srgbClr val="1E1B4B"/>
                </a:solidFill>
                <a:latin typeface="Calibri"/>
              </a:rPr>
              <a:t>Manual spreadsheet reporting takes hours per batch.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1900" b="1">
                <a:solidFill>
                  <a:srgbClr val="3B0764"/>
                </a:solidFill>
                <a:latin typeface="Calibri"/>
              </a:rPr>
              <a:t>• Calculation Errors: </a:t>
            </a:r>
            <a:r>
              <a:rPr sz="1700" b="0">
                <a:solidFill>
                  <a:srgbClr val="1E1B4B"/>
                </a:solidFill>
                <a:latin typeface="Calibri"/>
              </a:rPr>
              <a:t>Averaging and grading manual mistakes harm accuracy.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1900" b="1">
                <a:solidFill>
                  <a:srgbClr val="3B0764"/>
                </a:solidFill>
                <a:latin typeface="Calibri"/>
              </a:rPr>
              <a:t>• Lack of Guidance: </a:t>
            </a:r>
            <a:r>
              <a:rPr sz="1700" b="0">
                <a:solidFill>
                  <a:srgbClr val="1E1B4B"/>
                </a:solidFill>
                <a:latin typeface="Calibri"/>
              </a:rPr>
              <a:t>Standard report cards omit personalized remedial advice.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1900" b="1">
                <a:solidFill>
                  <a:srgbClr val="3B0764"/>
                </a:solidFill>
                <a:latin typeface="Calibri"/>
              </a:rPr>
              <a:t>• Absent Visual Analytics: </a:t>
            </a:r>
            <a:r>
              <a:rPr sz="1700" b="0">
                <a:solidFill>
                  <a:srgbClr val="1E1B4B"/>
                </a:solidFill>
                <a:latin typeface="Calibri"/>
              </a:rPr>
              <a:t>Tables fail to visually highlight student strengths.</a:t>
            </a:r>
          </a:p>
        </p:txBody>
      </p:sp>
      <p:pic>
        <p:nvPicPr>
          <p:cNvPr id="6" name="Picture 5" descr="slide2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0200"/>
            <a:ext cx="5212080" cy="355501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D8B4FE"/>
          </a:solidFill>
          <a:ln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2764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B468C"/>
                </a:solidFill>
                <a:latin typeface="Calibri"/>
              </a:defRPr>
            </a:pPr>
            <a:r>
              <a:t>Advanced Python Programming  |  Personalized Report Generation  |  Slide 2 of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400" b="1">
                <a:solidFill>
                  <a:srgbClr val="3B0764"/>
                </a:solidFill>
                <a:latin typeface="Calibri"/>
              </a:defRPr>
            </a:pPr>
            <a:r>
              <a:t>Proposed Solution &amp; System Objectives</a:t>
            </a:r>
          </a:p>
          <a:p>
            <a:pPr>
              <a:spcBef>
                <a:spcPts val="400"/>
              </a:spcBef>
              <a:defRPr sz="2200" b="1">
                <a:solidFill>
                  <a:srgbClr val="581C87"/>
                </a:solidFill>
                <a:latin typeface="Calibri"/>
              </a:defRPr>
            </a:pPr>
            <a:r>
              <a:t>Automated, Decoupled Template-Driven Academic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728655" cy="36576"/>
          </a:xfrm>
          <a:prstGeom prst="rect">
            <a:avLst/>
          </a:prstGeom>
          <a:solidFill>
            <a:srgbClr val="581C87"/>
          </a:solidFill>
          <a:ln>
            <a:solidFill>
              <a:srgbClr val="581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212080" cy="4480560"/>
          </a:xfrm>
          <a:prstGeom prst="roundRect">
            <a:avLst/>
          </a:prstGeom>
          <a:solidFill>
            <a:srgbClr val="F5F0FF"/>
          </a:solidFill>
          <a:ln w="1905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83080"/>
            <a:ext cx="475488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1900" b="1">
                <a:solidFill>
                  <a:srgbClr val="3B0764"/>
                </a:solidFill>
                <a:latin typeface="Calibri"/>
              </a:rPr>
              <a:t>• Strict Input Validation: </a:t>
            </a:r>
            <a:r>
              <a:rPr sz="1700" b="0">
                <a:solidFill>
                  <a:srgbClr val="1E1B4B"/>
                </a:solidFill>
                <a:latin typeface="Calibri"/>
              </a:rPr>
              <a:t>Enforces [0, 100] numerical score bounds.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1900" b="1">
                <a:solidFill>
                  <a:srgbClr val="3B0764"/>
                </a:solidFill>
                <a:latin typeface="Calibri"/>
              </a:rPr>
              <a:t>• Statistical Engine: </a:t>
            </a:r>
            <a:r>
              <a:rPr sz="1700" b="0">
                <a:solidFill>
                  <a:srgbClr val="1E1B4B"/>
                </a:solidFill>
                <a:latin typeface="Calibri"/>
              </a:rPr>
              <a:t>Automates totals, percentages, letter grades &amp; standing.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1900" b="1">
                <a:solidFill>
                  <a:srgbClr val="3B0764"/>
                </a:solidFill>
                <a:latin typeface="Calibri"/>
              </a:rPr>
              <a:t>• Personalized Advice: </a:t>
            </a:r>
            <a:r>
              <a:rPr sz="1700" b="0">
                <a:solidFill>
                  <a:srgbClr val="1E1B4B"/>
                </a:solidFill>
                <a:latin typeface="Calibri"/>
              </a:rPr>
              <a:t>Identifies top &amp; lowest courses with remedial guidance.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1900" b="1">
                <a:solidFill>
                  <a:srgbClr val="3B0764"/>
                </a:solidFill>
                <a:latin typeface="Calibri"/>
              </a:rPr>
              <a:t>• Publication Output: </a:t>
            </a:r>
            <a:r>
              <a:rPr sz="1700" b="0">
                <a:solidFill>
                  <a:srgbClr val="1E1B4B"/>
                </a:solidFill>
                <a:latin typeface="Calibri"/>
              </a:rPr>
              <a:t>Compiles vector PDF transcripts ready for print.</a:t>
            </a:r>
          </a:p>
        </p:txBody>
      </p:sp>
      <p:pic>
        <p:nvPicPr>
          <p:cNvPr id="6" name="Picture 5" descr="slide3_pill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0200"/>
            <a:ext cx="5212080" cy="369918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D8B4FE"/>
          </a:solidFill>
          <a:ln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2764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B468C"/>
                </a:solidFill>
                <a:latin typeface="Calibri"/>
              </a:defRPr>
            </a:pPr>
            <a:r>
              <a:t>Advanced Python Programming  |  Personalized Report Generation  |  Slide 3 of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400" b="1">
                <a:solidFill>
                  <a:srgbClr val="3B0764"/>
                </a:solidFill>
                <a:latin typeface="Calibri"/>
              </a:defRPr>
            </a:pPr>
            <a:r>
              <a:t>System Architecture &amp; Processing Pipeline</a:t>
            </a:r>
          </a:p>
          <a:p>
            <a:pPr>
              <a:spcBef>
                <a:spcPts val="400"/>
              </a:spcBef>
              <a:defRPr sz="2200" b="1">
                <a:solidFill>
                  <a:srgbClr val="581C87"/>
                </a:solidFill>
                <a:latin typeface="Calibri"/>
              </a:defRPr>
            </a:pPr>
            <a:r>
              <a:t>4-Stage Modular Decoupled In-Memory Execution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728655" cy="36576"/>
          </a:xfrm>
          <a:prstGeom prst="rect">
            <a:avLst/>
          </a:prstGeom>
          <a:solidFill>
            <a:srgbClr val="581C87"/>
          </a:solidFill>
          <a:ln>
            <a:solidFill>
              <a:srgbClr val="581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212080" cy="4480560"/>
          </a:xfrm>
          <a:prstGeom prst="roundRect">
            <a:avLst/>
          </a:prstGeom>
          <a:solidFill>
            <a:srgbClr val="F5F0FF"/>
          </a:solidFill>
          <a:ln w="1905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83080"/>
            <a:ext cx="475488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1900" b="1">
                <a:solidFill>
                  <a:srgbClr val="3B0764"/>
                </a:solidFill>
                <a:latin typeface="Calibri"/>
              </a:rPr>
              <a:t>• Stage 1 (Ingestion): </a:t>
            </a:r>
            <a:r>
              <a:rPr sz="1700" b="0">
                <a:solidFill>
                  <a:srgbClr val="1E1B4B"/>
                </a:solidFill>
                <a:latin typeface="Calibri"/>
              </a:rPr>
              <a:t>Streamlit UI collects student demographics &amp; marks.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1900" b="1">
                <a:solidFill>
                  <a:srgbClr val="3B0764"/>
                </a:solidFill>
                <a:latin typeface="Calibri"/>
              </a:rPr>
              <a:t>• Stage 2 (Processing): </a:t>
            </a:r>
            <a:r>
              <a:rPr sz="1700" b="0">
                <a:solidFill>
                  <a:srgbClr val="1E1B4B"/>
                </a:solidFill>
                <a:latin typeface="Calibri"/>
              </a:rPr>
              <a:t>data_processor.py executes validation &amp; calculations.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1900" b="1">
                <a:solidFill>
                  <a:srgbClr val="3B0764"/>
                </a:solidFill>
                <a:latin typeface="Calibri"/>
              </a:rPr>
              <a:t>• Stage 3 (Analytics): </a:t>
            </a:r>
            <a:r>
              <a:rPr sz="1700" b="0">
                <a:solidFill>
                  <a:srgbClr val="1E1B4B"/>
                </a:solidFill>
                <a:latin typeface="Calibri"/>
              </a:rPr>
              <a:t>visualizer.py generates comparative charts via Agg.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1900" b="1">
                <a:solidFill>
                  <a:srgbClr val="3B0764"/>
                </a:solidFill>
                <a:latin typeface="Calibri"/>
              </a:rPr>
              <a:t>• Stage 4 (Compilation): </a:t>
            </a:r>
            <a:r>
              <a:rPr sz="1700" b="0">
                <a:solidFill>
                  <a:srgbClr val="1E1B4B"/>
                </a:solidFill>
                <a:latin typeface="Calibri"/>
              </a:rPr>
              <a:t>pdf_generator.py binds data into ReportLab Platypus.</a:t>
            </a:r>
          </a:p>
        </p:txBody>
      </p:sp>
      <p:pic>
        <p:nvPicPr>
          <p:cNvPr id="6" name="Picture 5" descr="pipelin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0200"/>
            <a:ext cx="5212080" cy="345124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D8B4FE"/>
          </a:solidFill>
          <a:ln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2764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B468C"/>
                </a:solidFill>
                <a:latin typeface="Calibri"/>
              </a:defRPr>
            </a:pPr>
            <a:r>
              <a:t>Advanced Python Programming  |  Personalized Report Generation  |  Slide 4 of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400" b="1">
                <a:solidFill>
                  <a:srgbClr val="3B0764"/>
                </a:solidFill>
                <a:latin typeface="Calibri"/>
              </a:defRPr>
            </a:pPr>
            <a:r>
              <a:t>Technology Stack &amp; Technical Rationale</a:t>
            </a:r>
          </a:p>
          <a:p>
            <a:pPr>
              <a:spcBef>
                <a:spcPts val="400"/>
              </a:spcBef>
              <a:defRPr sz="2200" b="1">
                <a:solidFill>
                  <a:srgbClr val="581C87"/>
                </a:solidFill>
                <a:latin typeface="Calibri"/>
              </a:defRPr>
            </a:pPr>
            <a:r>
              <a:t>100% Free, Lightweight &amp; Open-Source Python Ecosystem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728655" cy="36576"/>
          </a:xfrm>
          <a:prstGeom prst="rect">
            <a:avLst/>
          </a:prstGeom>
          <a:solidFill>
            <a:srgbClr val="581C87"/>
          </a:solidFill>
          <a:ln>
            <a:solidFill>
              <a:srgbClr val="581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212080" cy="4480560"/>
          </a:xfrm>
          <a:prstGeom prst="roundRect">
            <a:avLst/>
          </a:prstGeom>
          <a:solidFill>
            <a:srgbClr val="F5F0FF"/>
          </a:solidFill>
          <a:ln w="1905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83080"/>
            <a:ext cx="475488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1900" b="1">
                <a:solidFill>
                  <a:srgbClr val="3B0764"/>
                </a:solidFill>
                <a:latin typeface="Calibri"/>
              </a:rPr>
              <a:t>• Python 3.11+: </a:t>
            </a:r>
            <a:r>
              <a:rPr sz="1700" b="0">
                <a:solidFill>
                  <a:srgbClr val="1E1B4B"/>
                </a:solidFill>
                <a:latin typeface="Calibri"/>
              </a:rPr>
              <a:t>Core logic with strict types and in-memory io.BytesIO.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1900" b="1">
                <a:solidFill>
                  <a:srgbClr val="3B0764"/>
                </a:solidFill>
                <a:latin typeface="Calibri"/>
              </a:rPr>
              <a:t>• Streamlit: </a:t>
            </a:r>
            <a:r>
              <a:rPr sz="1700" b="0">
                <a:solidFill>
                  <a:srgbClr val="1E1B4B"/>
                </a:solidFill>
                <a:latin typeface="Calibri"/>
              </a:rPr>
              <a:t>Interactive web UI with persistent session state.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1900" b="1">
                <a:solidFill>
                  <a:srgbClr val="3B0764"/>
                </a:solidFill>
                <a:latin typeface="Calibri"/>
              </a:rPr>
              <a:t>• Pandas: </a:t>
            </a:r>
            <a:r>
              <a:rPr sz="1700" b="0">
                <a:solidFill>
                  <a:srgbClr val="1E1B4B"/>
                </a:solidFill>
                <a:latin typeface="Calibri"/>
              </a:rPr>
              <a:t>Tabular data frame structures for student records.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1900" b="1">
                <a:solidFill>
                  <a:srgbClr val="3B0764"/>
                </a:solidFill>
                <a:latin typeface="Calibri"/>
              </a:rPr>
              <a:t>• ReportLab: </a:t>
            </a:r>
            <a:r>
              <a:rPr sz="1700" b="0">
                <a:solidFill>
                  <a:srgbClr val="1E1B4B"/>
                </a:solidFill>
                <a:latin typeface="Calibri"/>
              </a:rPr>
              <a:t>Native vector PDF compilation with Flowables.</a:t>
            </a:r>
          </a:p>
        </p:txBody>
      </p:sp>
      <p:pic>
        <p:nvPicPr>
          <p:cNvPr id="6" name="Picture 5" descr="slide5_tech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0200"/>
            <a:ext cx="5212080" cy="364845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D8B4FE"/>
          </a:solidFill>
          <a:ln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2764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B468C"/>
                </a:solidFill>
                <a:latin typeface="Calibri"/>
              </a:defRPr>
            </a:pPr>
            <a:r>
              <a:t>Advanced Python Programming  |  Personalized Report Generation  |  Slide 5 of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400" b="1">
                <a:solidFill>
                  <a:srgbClr val="3B0764"/>
                </a:solidFill>
                <a:latin typeface="Calibri"/>
              </a:defRPr>
            </a:pPr>
            <a:r>
              <a:t>Input Validation &amp; Academic Categorization</a:t>
            </a:r>
          </a:p>
          <a:p>
            <a:pPr>
              <a:spcBef>
                <a:spcPts val="400"/>
              </a:spcBef>
              <a:defRPr sz="2200" b="1">
                <a:solidFill>
                  <a:srgbClr val="581C87"/>
                </a:solidFill>
                <a:latin typeface="Calibri"/>
              </a:defRPr>
            </a:pPr>
            <a:r>
              <a:t>Clearly Defined University Evaluation Thresholds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728655" cy="36576"/>
          </a:xfrm>
          <a:prstGeom prst="rect">
            <a:avLst/>
          </a:prstGeom>
          <a:solidFill>
            <a:srgbClr val="581C87"/>
          </a:solidFill>
          <a:ln>
            <a:solidFill>
              <a:srgbClr val="581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212080" cy="4480560"/>
          </a:xfrm>
          <a:prstGeom prst="roundRect">
            <a:avLst/>
          </a:prstGeom>
          <a:solidFill>
            <a:srgbClr val="F5F0FF"/>
          </a:solidFill>
          <a:ln w="1905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83080"/>
            <a:ext cx="475488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1900" b="1">
                <a:solidFill>
                  <a:srgbClr val="3B0764"/>
                </a:solidFill>
                <a:latin typeface="Calibri"/>
              </a:rPr>
              <a:t>• Boundary Checks: </a:t>
            </a:r>
            <a:r>
              <a:rPr sz="1700" b="0">
                <a:solidFill>
                  <a:srgbClr val="1E1B4B"/>
                </a:solidFill>
                <a:latin typeface="Calibri"/>
              </a:rPr>
              <a:t>Name/Roll required; marks &amp; attendance strictly in [0, 100].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1900" b="1">
                <a:solidFill>
                  <a:srgbClr val="3B0764"/>
                </a:solidFill>
                <a:latin typeface="Calibri"/>
              </a:rPr>
              <a:t>• 4 Standing Tiers: </a:t>
            </a:r>
            <a:r>
              <a:rPr sz="1700" b="0">
                <a:solidFill>
                  <a:srgbClr val="1E1B4B"/>
                </a:solidFill>
                <a:latin typeface="Calibri"/>
              </a:rPr>
              <a:t>Excellent (&gt;= 85%), Good (70-84%), Average (50-69%), Needs Imprv (&lt; 50%).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1900" b="1">
                <a:solidFill>
                  <a:srgbClr val="3B0764"/>
                </a:solidFill>
                <a:latin typeface="Calibri"/>
              </a:rPr>
              <a:t>• Attendance Norms: </a:t>
            </a:r>
            <a:r>
              <a:rPr sz="1700" b="0">
                <a:solidFill>
                  <a:srgbClr val="1E1B4B"/>
                </a:solidFill>
                <a:latin typeface="Calibri"/>
              </a:rPr>
              <a:t>Standard &gt;= 75% required; &lt; 75% triggers shortage alert.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1900" b="1">
                <a:solidFill>
                  <a:srgbClr val="3B0764"/>
                </a:solidFill>
                <a:latin typeface="Calibri"/>
              </a:rPr>
              <a:t>• Remedial Engine: </a:t>
            </a:r>
            <a:r>
              <a:rPr sz="1700" b="0">
                <a:solidFill>
                  <a:srgbClr val="1E1B4B"/>
                </a:solidFill>
                <a:latin typeface="Calibri"/>
              </a:rPr>
              <a:t>Praises strengths and recommends corrective actions.</a:t>
            </a:r>
          </a:p>
        </p:txBody>
      </p:sp>
      <p:pic>
        <p:nvPicPr>
          <p:cNvPr id="6" name="Picture 5" descr="threshold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0200"/>
            <a:ext cx="5212080" cy="336928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D8B4FE"/>
          </a:solidFill>
          <a:ln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2764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B468C"/>
                </a:solidFill>
                <a:latin typeface="Calibri"/>
              </a:defRPr>
            </a:pPr>
            <a:r>
              <a:t>Advanced Python Programming  |  Personalized Report Generation  |  Slide 6 of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400" b="1">
                <a:solidFill>
                  <a:srgbClr val="3B0764"/>
                </a:solidFill>
                <a:latin typeface="Calibri"/>
              </a:defRPr>
            </a:pPr>
            <a:r>
              <a:t>Dynamic Data Visualization Engine</a:t>
            </a:r>
          </a:p>
          <a:p>
            <a:pPr>
              <a:spcBef>
                <a:spcPts val="400"/>
              </a:spcBef>
              <a:defRPr sz="2200" b="1">
                <a:solidFill>
                  <a:srgbClr val="581C87"/>
                </a:solidFill>
                <a:latin typeface="Calibri"/>
              </a:defRPr>
            </a:pPr>
            <a:r>
              <a:t>Comparative Academic Performance Visual Analytics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728655" cy="36576"/>
          </a:xfrm>
          <a:prstGeom prst="rect">
            <a:avLst/>
          </a:prstGeom>
          <a:solidFill>
            <a:srgbClr val="581C87"/>
          </a:solidFill>
          <a:ln>
            <a:solidFill>
              <a:srgbClr val="581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212080" cy="4480560"/>
          </a:xfrm>
          <a:prstGeom prst="roundRect">
            <a:avLst/>
          </a:prstGeom>
          <a:solidFill>
            <a:srgbClr val="F5F0FF"/>
          </a:solidFill>
          <a:ln w="1905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83080"/>
            <a:ext cx="475488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1900" b="1">
                <a:solidFill>
                  <a:srgbClr val="3B0764"/>
                </a:solidFill>
                <a:latin typeface="Calibri"/>
              </a:rPr>
              <a:t>• Tier Color Coding: </a:t>
            </a:r>
            <a:r>
              <a:rPr sz="1700" b="0">
                <a:solidFill>
                  <a:srgbClr val="1E1B4B"/>
                </a:solidFill>
                <a:latin typeface="Calibri"/>
              </a:rPr>
              <a:t>Bars styled according to performance category.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1900" b="1">
                <a:solidFill>
                  <a:srgbClr val="3B0764"/>
                </a:solidFill>
                <a:latin typeface="Calibri"/>
              </a:rPr>
              <a:t>• Benchmark Lines: </a:t>
            </a:r>
            <a:r>
              <a:rPr sz="1700" b="0">
                <a:solidFill>
                  <a:srgbClr val="1E1B4B"/>
                </a:solidFill>
                <a:latin typeface="Calibri"/>
              </a:rPr>
              <a:t>Visual pass benchmark (50) and student aggregate line.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1900" b="1">
                <a:solidFill>
                  <a:srgbClr val="3B0764"/>
                </a:solidFill>
                <a:latin typeface="Calibri"/>
              </a:rPr>
              <a:t>• Score Annotations: </a:t>
            </a:r>
            <a:r>
              <a:rPr sz="1700" b="0">
                <a:solidFill>
                  <a:srgbClr val="1E1B4B"/>
                </a:solidFill>
                <a:latin typeface="Calibri"/>
              </a:rPr>
              <a:t>Numerical marks annotated on top of each bar.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1900" b="1">
                <a:solidFill>
                  <a:srgbClr val="3B0764"/>
                </a:solidFill>
                <a:latin typeface="Calibri"/>
              </a:rPr>
              <a:t>• Zero Disk I/O: </a:t>
            </a:r>
            <a:r>
              <a:rPr sz="1700" b="0">
                <a:solidFill>
                  <a:srgbClr val="1E1B4B"/>
                </a:solidFill>
                <a:latin typeface="Calibri"/>
              </a:rPr>
              <a:t>Charts rasterized to in-memory bytes for immediate PDF embed.</a:t>
            </a:r>
          </a:p>
        </p:txBody>
      </p:sp>
      <p:pic>
        <p:nvPicPr>
          <p:cNvPr id="6" name="Picture 5" descr="performance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0200"/>
            <a:ext cx="5212080" cy="33103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D8B4FE"/>
          </a:solidFill>
          <a:ln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2764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B468C"/>
                </a:solidFill>
                <a:latin typeface="Calibri"/>
              </a:defRPr>
            </a:pPr>
            <a:r>
              <a:t>Advanced Python Programming  |  Personalized Report Generation  |  Slide 7 of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400" b="1">
                <a:solidFill>
                  <a:srgbClr val="3B0764"/>
                </a:solidFill>
                <a:latin typeface="Calibri"/>
              </a:defRPr>
            </a:pPr>
            <a:r>
              <a:t>Template Decoupling &amp; Vector PDF Output</a:t>
            </a:r>
          </a:p>
          <a:p>
            <a:pPr>
              <a:spcBef>
                <a:spcPts val="400"/>
              </a:spcBef>
              <a:defRPr sz="2200" b="1">
                <a:solidFill>
                  <a:srgbClr val="581C87"/>
                </a:solidFill>
                <a:latin typeface="Calibri"/>
              </a:defRPr>
            </a:pPr>
            <a:r>
              <a:t>Printable Academic Transcripts via ReportLab Platypus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728655" cy="36576"/>
          </a:xfrm>
          <a:prstGeom prst="rect">
            <a:avLst/>
          </a:prstGeom>
          <a:solidFill>
            <a:srgbClr val="581C87"/>
          </a:solidFill>
          <a:ln>
            <a:solidFill>
              <a:srgbClr val="581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212080" cy="4480560"/>
          </a:xfrm>
          <a:prstGeom prst="roundRect">
            <a:avLst/>
          </a:prstGeom>
          <a:solidFill>
            <a:srgbClr val="F5F0FF"/>
          </a:solidFill>
          <a:ln w="1905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83080"/>
            <a:ext cx="475488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1900" b="1">
                <a:solidFill>
                  <a:srgbClr val="3B0764"/>
                </a:solidFill>
                <a:latin typeface="Calibri"/>
              </a:rPr>
              <a:t>• Template Decoupling: </a:t>
            </a:r>
            <a:r>
              <a:rPr sz="1700" b="0">
                <a:solidFill>
                  <a:srgbClr val="1E1B4B"/>
                </a:solidFill>
                <a:latin typeface="Calibri"/>
              </a:rPr>
              <a:t>Static visual geometry separated from dynamic student data.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1900" b="1">
                <a:solidFill>
                  <a:srgbClr val="3B0764"/>
                </a:solidFill>
                <a:latin typeface="Calibri"/>
              </a:rPr>
              <a:t>• Platypus Flowables: </a:t>
            </a:r>
            <a:r>
              <a:rPr sz="1700" b="0">
                <a:solidFill>
                  <a:srgbClr val="1E1B4B"/>
                </a:solidFill>
                <a:latin typeface="Calibri"/>
              </a:rPr>
              <a:t>Automatic page budget management and clean pagination.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1900" b="1">
                <a:solidFill>
                  <a:srgbClr val="3B0764"/>
                </a:solidFill>
                <a:latin typeface="Calibri"/>
              </a:rPr>
              <a:t>• Official Elements: </a:t>
            </a:r>
            <a:r>
              <a:rPr sz="1700" b="0">
                <a:solidFill>
                  <a:srgbClr val="1E1B4B"/>
                </a:solidFill>
                <a:latin typeface="Calibri"/>
              </a:rPr>
              <a:t>Header branding, grade tables, embedded chart, signature lines.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1900" b="1">
                <a:solidFill>
                  <a:srgbClr val="3B0764"/>
                </a:solidFill>
                <a:latin typeface="Calibri"/>
              </a:rPr>
              <a:t>• Vector Precision: </a:t>
            </a:r>
            <a:r>
              <a:rPr sz="1700" b="0">
                <a:solidFill>
                  <a:srgbClr val="1E1B4B"/>
                </a:solidFill>
                <a:latin typeface="Calibri"/>
              </a:rPr>
              <a:t>High-resolution output suitable for official institutional archives.</a:t>
            </a:r>
          </a:p>
        </p:txBody>
      </p:sp>
      <p:pic>
        <p:nvPicPr>
          <p:cNvPr id="6" name="Picture 5" descr="pdf_m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0200"/>
            <a:ext cx="5212080" cy="370562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D8B4FE"/>
          </a:solidFill>
          <a:ln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2764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B468C"/>
                </a:solidFill>
                <a:latin typeface="Calibri"/>
              </a:defRPr>
            </a:pPr>
            <a:r>
              <a:t>Advanced Python Programming  |  Personalized Report Generation  |  Slide 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400" b="1">
                <a:solidFill>
                  <a:srgbClr val="3B0764"/>
                </a:solidFill>
                <a:latin typeface="Calibri"/>
              </a:defRPr>
            </a:pPr>
            <a:r>
              <a:t>Application Interface &amp; Demonstration Workflow</a:t>
            </a:r>
          </a:p>
          <a:p>
            <a:pPr>
              <a:spcBef>
                <a:spcPts val="400"/>
              </a:spcBef>
              <a:defRPr sz="2200" b="1">
                <a:solidFill>
                  <a:srgbClr val="581C87"/>
                </a:solidFill>
                <a:latin typeface="Calibri"/>
              </a:defRPr>
            </a:pPr>
            <a:r>
              <a:t>Reactive Dual-Tab Dashboard with Classroom Demo Presets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728655" cy="36576"/>
          </a:xfrm>
          <a:prstGeom prst="rect">
            <a:avLst/>
          </a:prstGeom>
          <a:solidFill>
            <a:srgbClr val="581C87"/>
          </a:solidFill>
          <a:ln>
            <a:solidFill>
              <a:srgbClr val="581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212080" cy="4480560"/>
          </a:xfrm>
          <a:prstGeom prst="roundRect">
            <a:avLst/>
          </a:prstGeom>
          <a:solidFill>
            <a:srgbClr val="F5F0FF"/>
          </a:solidFill>
          <a:ln w="1905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83080"/>
            <a:ext cx="475488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1900" b="1">
                <a:solidFill>
                  <a:srgbClr val="3B0764"/>
                </a:solidFill>
                <a:latin typeface="Calibri"/>
              </a:rPr>
              <a:t>• 1-Click Sidebar Presets: </a:t>
            </a:r>
            <a:r>
              <a:rPr sz="1700" b="0">
                <a:solidFill>
                  <a:srgbClr val="1E1B4B"/>
                </a:solidFill>
                <a:latin typeface="Calibri"/>
              </a:rPr>
              <a:t>Pre-loaded profiles (High Achiever, Needs Review).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1900" b="1">
                <a:solidFill>
                  <a:srgbClr val="3B0764"/>
                </a:solidFill>
                <a:latin typeface="Calibri"/>
              </a:rPr>
              <a:t>• Dual-Tab Layout: </a:t>
            </a:r>
            <a:r>
              <a:rPr sz="1700" b="0">
                <a:solidFill>
                  <a:srgbClr val="1E1B4B"/>
                </a:solidFill>
                <a:latin typeface="Calibri"/>
              </a:rPr>
              <a:t>Tab 1 for data input; Tab 2 for live report inspection.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1900" b="1">
                <a:solidFill>
                  <a:srgbClr val="3B0764"/>
                </a:solidFill>
                <a:latin typeface="Calibri"/>
              </a:rPr>
              <a:t>• Live KPI Summary: </a:t>
            </a:r>
            <a:r>
              <a:rPr sz="1700" b="0">
                <a:solidFill>
                  <a:srgbClr val="1E1B4B"/>
                </a:solidFill>
                <a:latin typeface="Calibri"/>
              </a:rPr>
              <a:t>Instant metrics for Total Marks, Aggregate %, Standing.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1900" b="1">
                <a:solidFill>
                  <a:srgbClr val="3B0764"/>
                </a:solidFill>
                <a:latin typeface="Calibri"/>
              </a:rPr>
              <a:t>• In-Memory Download: </a:t>
            </a:r>
            <a:r>
              <a:rPr sz="1700" b="0">
                <a:solidFill>
                  <a:srgbClr val="1E1B4B"/>
                </a:solidFill>
                <a:latin typeface="Calibri"/>
              </a:rPr>
              <a:t>1-Click download of vector PDF without file locking.</a:t>
            </a:r>
          </a:p>
        </p:txBody>
      </p:sp>
      <p:pic>
        <p:nvPicPr>
          <p:cNvPr id="6" name="Picture 5" descr="slide9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0200"/>
            <a:ext cx="5212080" cy="345124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D8B4FE"/>
          </a:solidFill>
          <a:ln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2764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B468C"/>
                </a:solidFill>
                <a:latin typeface="Calibri"/>
              </a:defRPr>
            </a:pPr>
            <a:r>
              <a:t>Advanced Python Programming  |  Personalized Report Generation  |  Slide 9 of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400" b="1">
                <a:solidFill>
                  <a:srgbClr val="3B0764"/>
                </a:solidFill>
                <a:latin typeface="Calibri"/>
              </a:defRPr>
            </a:pPr>
            <a:r>
              <a:t>Conclusion, Future Scope &amp; Viva Discussion</a:t>
            </a:r>
          </a:p>
          <a:p>
            <a:pPr>
              <a:spcBef>
                <a:spcPts val="400"/>
              </a:spcBef>
              <a:defRPr sz="2200" b="1">
                <a:solidFill>
                  <a:srgbClr val="581C87"/>
                </a:solidFill>
                <a:latin typeface="Calibri"/>
              </a:defRPr>
            </a:pPr>
            <a:r>
              <a:t>Project Accomplishments &amp; Enterprise Scalability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728655" cy="36576"/>
          </a:xfrm>
          <a:prstGeom prst="rect">
            <a:avLst/>
          </a:prstGeom>
          <a:solidFill>
            <a:srgbClr val="581C87"/>
          </a:solidFill>
          <a:ln>
            <a:solidFill>
              <a:srgbClr val="581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212080" cy="4480560"/>
          </a:xfrm>
          <a:prstGeom prst="roundRect">
            <a:avLst/>
          </a:prstGeom>
          <a:solidFill>
            <a:srgbClr val="F5F0FF"/>
          </a:solidFill>
          <a:ln w="1905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83080"/>
            <a:ext cx="475488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1900" b="1">
                <a:solidFill>
                  <a:srgbClr val="3B0764"/>
                </a:solidFill>
                <a:latin typeface="Calibri"/>
              </a:rPr>
              <a:t>• 100% Automated: </a:t>
            </a:r>
            <a:r>
              <a:rPr sz="1700" b="0">
                <a:solidFill>
                  <a:srgbClr val="1E1B4B"/>
                </a:solidFill>
                <a:latin typeface="Calibri"/>
              </a:rPr>
              <a:t>Eliminates administrative overhead and arithmetic errors.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1900" b="1">
                <a:solidFill>
                  <a:srgbClr val="3B0764"/>
                </a:solidFill>
                <a:latin typeface="Calibri"/>
              </a:rPr>
              <a:t>• High Performance: </a:t>
            </a:r>
            <a:r>
              <a:rPr sz="1700" b="0">
                <a:solidFill>
                  <a:srgbClr val="1E1B4B"/>
                </a:solidFill>
                <a:latin typeface="Calibri"/>
              </a:rPr>
              <a:t>Under 0.8s execution time via in-memory streaming.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1900" b="1">
                <a:solidFill>
                  <a:srgbClr val="3B0764"/>
                </a:solidFill>
                <a:latin typeface="Calibri"/>
              </a:rPr>
              <a:t>• Scalability Roadmap: </a:t>
            </a:r>
            <a:r>
              <a:rPr sz="1700" b="0">
                <a:solidFill>
                  <a:srgbClr val="1E1B4B"/>
                </a:solidFill>
                <a:latin typeface="Calibri"/>
              </a:rPr>
              <a:t>Batch CSV ingestion for 500+ students &amp; email dispatch.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1900" b="1">
                <a:solidFill>
                  <a:srgbClr val="3B0764"/>
                </a:solidFill>
                <a:latin typeface="Calibri"/>
              </a:rPr>
              <a:t>• Viva Evaluation: </a:t>
            </a:r>
            <a:r>
              <a:rPr sz="1700" b="0">
                <a:solidFill>
                  <a:srgbClr val="1E1B4B"/>
                </a:solidFill>
                <a:latin typeface="Calibri"/>
              </a:rPr>
              <a:t>Floor is open for Questions, Code Walkthrough &amp; Demo.</a:t>
            </a:r>
          </a:p>
        </p:txBody>
      </p:sp>
      <p:pic>
        <p:nvPicPr>
          <p:cNvPr id="6" name="Picture 5" descr="slide10_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0200"/>
            <a:ext cx="5212080" cy="345124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D8B4FE"/>
          </a:solidFill>
          <a:ln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2764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B468C"/>
                </a:solidFill>
                <a:latin typeface="Calibri"/>
              </a:defRPr>
            </a:pPr>
            <a:r>
              <a:t>Advanced Python Programming  |  Personalized Report Generation  |  Slide 10 of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